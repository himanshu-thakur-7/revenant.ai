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365760" cy="365760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393192"/>
            <a:ext cx="3840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84048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Razorpay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384048"/>
            <a:ext cx="365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8FA6D8"/>
                </a:solidFill>
                <a:latin typeface="Calibri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84048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bo</a:t>
            </a:r>
            <a:r>
              <a:rPr sz="1900" b="1">
                <a:solidFill>
                  <a:srgbClr val="FF8A9A"/>
                </a:solidFill>
                <a:latin typeface="Calibri"/>
              </a:rPr>
              <a:t>A</a:t>
            </a:r>
            <a:r>
              <a:rPr sz="19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395FF"/>
                </a:solidFill>
                <a:latin typeface="Calibri"/>
              </a:rPr>
              <a:t>A WORKING PROTOTYPE + PILOT FOR boAt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4320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Turn boAt's checkout drop-off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FC2FF"/>
                </a:solidFill>
                <a:latin typeface="Calibri"/>
              </a:rPr>
              <a:t>into recovered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7D6F5"/>
                </a:solidFill>
                <a:latin typeface="Calibri"/>
              </a:rPr>
              <a:t>Razorpay Magic Checkout — 1-click, address-prefilled, RTO-protected checkout for the 100M+ shoppers already saved with Razorpay.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310896" cy="310896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265176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D2366"/>
                </a:solidFill>
                <a:latin typeface="Calibri"/>
              </a:rPr>
              <a:t>Razorpay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65176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6B87"/>
                </a:solidFill>
                <a:latin typeface="Calibri"/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65176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D2366"/>
                </a:solidFill>
                <a:latin typeface="Calibri"/>
              </a:rPr>
              <a:t>bo</a:t>
            </a:r>
            <a:r>
              <a:rPr sz="1700" b="1">
                <a:solidFill>
                  <a:srgbClr val="E1253B"/>
                </a:solidFill>
                <a:latin typeface="Calibri"/>
              </a:rPr>
              <a:t>A</a:t>
            </a:r>
            <a:r>
              <a:rPr sz="1700" b="1">
                <a:solidFill>
                  <a:srgbClr val="0D2366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6B87"/>
                </a:solidFill>
                <a:latin typeface="Calibri"/>
              </a:rPr>
              <a:t>Razorpay × boAt   ·   02/05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95FF"/>
                </a:solidFill>
                <a:latin typeface="Calibri"/>
              </a:rPr>
              <a:t>THE LEAK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417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0D2366"/>
                </a:solidFill>
                <a:latin typeface="Calibri"/>
              </a:rPr>
              <a:t>boAt loses revenue at the last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3429000" cy="2834640"/>
          </a:xfrm>
          <a:prstGeom prst="roundRect">
            <a:avLst/>
          </a:prstGeom>
          <a:solidFill>
            <a:srgbClr val="F1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3429000" cy="109728"/>
          </a:xfrm>
          <a:prstGeom prst="roundRect">
            <a:avLst/>
          </a:prstGeom>
          <a:solidFill>
            <a:srgbClr val="E1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D2366"/>
                </a:solidFill>
                <a:latin typeface="Calibri"/>
              </a:rPr>
              <a:t>Cart drop-off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B87"/>
                </a:solidFill>
                <a:latin typeface="Calibri"/>
              </a:rPr>
              <a:t>Manual address + payment entry on mobile is the #1 reason boAt shoppers abandon a full cart.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2651760"/>
            <a:ext cx="3429000" cy="2834640"/>
          </a:xfrm>
          <a:prstGeom prst="roundRect">
            <a:avLst/>
          </a:prstGeom>
          <a:solidFill>
            <a:srgbClr val="F1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7992" y="2651760"/>
            <a:ext cx="3429000" cy="109728"/>
          </a:xfrm>
          <a:prstGeom prst="roundRect">
            <a:avLst/>
          </a:prstGeom>
          <a:solidFill>
            <a:srgbClr val="E1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D2366"/>
                </a:solidFill>
                <a:latin typeface="Calibri"/>
              </a:rPr>
              <a:t>COD return-to-origin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703320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B87"/>
                </a:solidFill>
                <a:latin typeface="Calibri"/>
              </a:rPr>
              <a:t>Cash-on-delivery on high-value audio drives costly RTO — packed, shipped, refused, returned.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2651760"/>
            <a:ext cx="3429000" cy="2834640"/>
          </a:xfrm>
          <a:prstGeom prst="roundRect">
            <a:avLst/>
          </a:prstGeom>
          <a:solidFill>
            <a:srgbClr val="F1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3024" y="2651760"/>
            <a:ext cx="3429000" cy="109728"/>
          </a:xfrm>
          <a:prstGeom prst="roundRect">
            <a:avLst/>
          </a:prstGeom>
          <a:solidFill>
            <a:srgbClr val="E1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D2366"/>
                </a:solidFill>
                <a:latin typeface="Calibri"/>
              </a:rPr>
              <a:t>After-hours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703320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B87"/>
                </a:solidFill>
                <a:latin typeface="Calibri"/>
              </a:rPr>
              <a:t>“Where is my order?” load piles up when no one's at the desk to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310896" cy="310896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265176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D2366"/>
                </a:solidFill>
                <a:latin typeface="Calibri"/>
              </a:rPr>
              <a:t>Razorpay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65176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6B87"/>
                </a:solidFill>
                <a:latin typeface="Calibri"/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65176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D2366"/>
                </a:solidFill>
                <a:latin typeface="Calibri"/>
              </a:rPr>
              <a:t>bo</a:t>
            </a:r>
            <a:r>
              <a:rPr sz="1700" b="1">
                <a:solidFill>
                  <a:srgbClr val="E1253B"/>
                </a:solidFill>
                <a:latin typeface="Calibri"/>
              </a:rPr>
              <a:t>A</a:t>
            </a:r>
            <a:r>
              <a:rPr sz="1700" b="1">
                <a:solidFill>
                  <a:srgbClr val="0D2366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6B87"/>
                </a:solidFill>
                <a:latin typeface="Calibri"/>
              </a:rPr>
              <a:t>Razorpay × boAt   ·   03/05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95FF"/>
                </a:solidFill>
                <a:latin typeface="Calibri"/>
              </a:rPr>
              <a:t>THE FIX — MAGIC 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417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0D2366"/>
                </a:solidFill>
                <a:latin typeface="Calibri"/>
              </a:rPr>
              <a:t>One tap to buy. Zero drop-off.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128016" cy="658368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D2366"/>
                </a:solidFill>
                <a:latin typeface="Calibri"/>
              </a:rPr>
              <a:t>1-click prefilled checkout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514600"/>
            <a:ext cx="6035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B87"/>
                </a:solidFill>
                <a:latin typeface="Calibri"/>
              </a:rPr>
              <a:t>100M+ shoppers are already saved with Razorpay — on boAt they're recognised and the checkout fills itself. One tap to pay.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93008"/>
            <a:ext cx="128016" cy="658368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47288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D2366"/>
                </a:solidFill>
                <a:latin typeface="Calibri"/>
              </a:rPr>
              <a:t>Predictive COD &amp; RTO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447288"/>
            <a:ext cx="6035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B87"/>
                </a:solidFill>
                <a:latin typeface="Calibri"/>
              </a:rPr>
              <a:t>Risk models nudge shaky COD orders to prepaid and reimburse failed deliveries — boAt keeps more of every high-value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25696"/>
            <a:ext cx="128016" cy="658368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379976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D2366"/>
                </a:solidFill>
                <a:latin typeface="Calibri"/>
              </a:rPr>
              <a:t>100+ payment methods + offers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379976"/>
            <a:ext cx="6035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B87"/>
                </a:solidFill>
                <a:latin typeface="Calibri"/>
              </a:rPr>
              <a:t>UPI, cards, netbanking, wallets, EMI, BNPL, plus a coupon engine — the method the shopper is most likely to complete, auto-recommended.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58384"/>
            <a:ext cx="128016" cy="658368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12664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D2366"/>
                </a:solidFill>
                <a:latin typeface="Calibri"/>
              </a:rPr>
              <a:t>Live in a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312664"/>
            <a:ext cx="6035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B87"/>
                </a:solidFill>
                <a:latin typeface="Calibri"/>
              </a:rPr>
              <a:t>One script tag on boAt's store — Shopify, WooCommerce, or custom. PCI-DSS Level 1. No re-platforming.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FC2FF"/>
                </a:solidFill>
                <a:latin typeface="Calibri"/>
              </a:rPr>
              <a:t>THE IMPACT FOR boAt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1887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What one tap recovers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2606040" cy="2651760"/>
          </a:xfrm>
          <a:prstGeom prst="roundRect">
            <a:avLst/>
          </a:prstGeom>
          <a:solidFill>
            <a:srgbClr val="14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FC2FF"/>
                </a:solidFill>
                <a:latin typeface="Calibri"/>
              </a:rPr>
              <a:t>+40%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conversion uplift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26279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B8CBF0"/>
                </a:solidFill>
                <a:latin typeface="Calibri"/>
              </a:rPr>
              <a:t>less form-filling drop-off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66744" y="2651760"/>
            <a:ext cx="2606040" cy="2651760"/>
          </a:xfrm>
          <a:prstGeom prst="roundRect">
            <a:avLst/>
          </a:prstGeom>
          <a:solidFill>
            <a:srgbClr val="14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66744" y="310896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FC2FF"/>
                </a:solidFill>
                <a:latin typeface="Calibri"/>
              </a:rPr>
              <a:t>100M+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41148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pre-saved shoppers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9624" y="4526279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B8CBF0"/>
                </a:solidFill>
                <a:latin typeface="Calibri"/>
              </a:rPr>
              <a:t>recognised on boAt instantly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2651760"/>
            <a:ext cx="2606040" cy="2651760"/>
          </a:xfrm>
          <a:prstGeom prst="roundRect">
            <a:avLst/>
          </a:prstGeom>
          <a:solidFill>
            <a:srgbClr val="14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10896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FC2FF"/>
                </a:solidFill>
                <a:latin typeface="Calibri"/>
              </a:rPr>
              <a:t>↓ 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41148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return-to-origin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4526279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B8CBF0"/>
                </a:solidFill>
                <a:latin typeface="Calibri"/>
              </a:rPr>
              <a:t>predictive COD → prepaid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54312" y="2651760"/>
            <a:ext cx="2606040" cy="2651760"/>
          </a:xfrm>
          <a:prstGeom prst="roundRect">
            <a:avLst/>
          </a:prstGeom>
          <a:solidFill>
            <a:srgbClr val="14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310896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FC2FF"/>
                </a:solidFill>
                <a:latin typeface="Calibri"/>
              </a:rPr>
              <a:t>~1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41148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to go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4526279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B8CBF0"/>
                </a:solidFill>
                <a:latin typeface="Calibri"/>
              </a:rPr>
              <a:t>one script tag, no re-platform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310896" cy="310896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743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265176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D2366"/>
                </a:solidFill>
                <a:latin typeface="Calibri"/>
              </a:rPr>
              <a:t>Razorpay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65176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6B87"/>
                </a:solidFill>
                <a:latin typeface="Calibri"/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65176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D2366"/>
                </a:solidFill>
                <a:latin typeface="Calibri"/>
              </a:rPr>
              <a:t>bo</a:t>
            </a:r>
            <a:r>
              <a:rPr sz="1700" b="1">
                <a:solidFill>
                  <a:srgbClr val="E1253B"/>
                </a:solidFill>
                <a:latin typeface="Calibri"/>
              </a:rPr>
              <a:t>A</a:t>
            </a:r>
            <a:r>
              <a:rPr sz="1700" b="1">
                <a:solidFill>
                  <a:srgbClr val="0D2366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6B87"/>
                </a:solidFill>
                <a:latin typeface="Calibri"/>
              </a:rPr>
              <a:t>Razorpay × boAt   ·   05/05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95FF"/>
                </a:solidFill>
                <a:latin typeface="Calibri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2316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D2366"/>
                </a:solidFill>
                <a:latin typeface="Calibri"/>
              </a:rPr>
              <a:t>A 30-day Magic Checkout pilot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3395FF"/>
                </a:solidFill>
                <a:latin typeface="Calibri"/>
              </a:rPr>
              <a:t>on one boAt storefront — live this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6B87"/>
                </a:solidFill>
                <a:latin typeface="Calibri"/>
              </a:rPr>
              <a:t>We'll ship the integration, wire COD/RTO protection, and report recovered revenue against a baseline. </a:t>
            </a:r>
            <a:r>
              <a:rPr sz="1600" b="1">
                <a:solidFill>
                  <a:srgbClr val="0D2366"/>
                </a:solidFill>
                <a:latin typeface="Calibri"/>
              </a:rPr>
              <a:t>You only scale what pays.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212080"/>
            <a:ext cx="3017520" cy="640080"/>
          </a:xfrm>
          <a:prstGeom prst="roundRect">
            <a:avLst/>
          </a:prstGeom>
          <a:solidFill>
            <a:srgbClr val="339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Book the pilot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